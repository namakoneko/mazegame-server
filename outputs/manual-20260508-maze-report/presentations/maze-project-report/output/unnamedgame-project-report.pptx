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2753bf9b874361" /><Relationship Type="http://schemas.openxmlformats.org/officeDocument/2006/relationships/extended-properties" Target="/docProps/app.xml" Id="Rfd9a5615101b43de" /><Relationship Type="http://schemas.openxmlformats.org/officeDocument/2006/relationships/officeDocument" Target="/ppt/presentation.xml" Id="R6edfef1d5fdd49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6e9bcf69a34d3b"/>
  </p:sldMasterIdLst>
  <p:notesMasterIdLst>
    <p:notesMasterId xmlns:r="http://schemas.openxmlformats.org/officeDocument/2006/relationships" r:id="R4c4c69a86c7d4c2b"/>
  </p:notesMasterIdLst>
  <p:sldIdLst>
    <p:sldId xmlns:r="http://schemas.openxmlformats.org/officeDocument/2006/relationships" id="256" r:id="R3db448a2a96e41b9"/>
    <p:sldId xmlns:r="http://schemas.openxmlformats.org/officeDocument/2006/relationships" id="257" r:id="Rbad4bfa0d7734c0d"/>
    <p:sldId xmlns:r="http://schemas.openxmlformats.org/officeDocument/2006/relationships" id="258" r:id="Rf92ca9c0e6314a3a"/>
    <p:sldId xmlns:r="http://schemas.openxmlformats.org/officeDocument/2006/relationships" id="259" r:id="Rf44136ef68f04cba"/>
    <p:sldId xmlns:r="http://schemas.openxmlformats.org/officeDocument/2006/relationships" id="260" r:id="R190335a1c9b74a2c"/>
    <p:sldId xmlns:r="http://schemas.openxmlformats.org/officeDocument/2006/relationships" id="261" r:id="R1edb796811094988"/>
    <p:sldId xmlns:r="http://schemas.openxmlformats.org/officeDocument/2006/relationships" id="262" r:id="R8ee4cd4792db4b41"/>
    <p:sldId xmlns:r="http://schemas.openxmlformats.org/officeDocument/2006/relationships" id="263" r:id="R2a52b4ea23f248f8"/>
    <p:sldId xmlns:r="http://schemas.openxmlformats.org/officeDocument/2006/relationships" id="264" r:id="Rff2c85751c2c4aca"/>
    <p:sldId xmlns:r="http://schemas.openxmlformats.org/officeDocument/2006/relationships" id="265" r:id="R449966d217df49d8"/>
    <p:sldId xmlns:r="http://schemas.openxmlformats.org/officeDocument/2006/relationships" id="266" r:id="Rb6fa45428b93483d"/>
    <p:sldId xmlns:r="http://schemas.openxmlformats.org/officeDocument/2006/relationships" id="267" r:id="R52485b162570424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6e9bcf69a34d3b" /><Relationship Type="http://schemas.openxmlformats.org/officeDocument/2006/relationships/theme" Target="/ppt/theme/theme1.xml" Id="R281f61542f4e412c" /><Relationship Type="http://schemas.openxmlformats.org/officeDocument/2006/relationships/notesMaster" Target="/ppt/notesMasters/notesMaster1.xml" Id="R4c4c69a86c7d4c2b" /><Relationship Type="http://schemas.openxmlformats.org/officeDocument/2006/relationships/presProps" Target="/ppt/presProps.xml" Id="R50d8fc6b1f434721" /><Relationship Type="http://schemas.openxmlformats.org/officeDocument/2006/relationships/viewProps" Target="/ppt/viewProps.xml" Id="R1dc84e1ec90c430e" /><Relationship Type="http://schemas.openxmlformats.org/officeDocument/2006/relationships/tableStyles" Target="/ppt/tableStyles.xml" Id="R21fc270eea774df7" /><Relationship Type="http://schemas.openxmlformats.org/officeDocument/2006/relationships/slide" Target="/ppt/slides/slide1.xml" Id="R3db448a2a96e41b9" /><Relationship Type="http://schemas.openxmlformats.org/officeDocument/2006/relationships/slide" Target="/ppt/slides/slide2.xml" Id="Rbad4bfa0d7734c0d" /><Relationship Type="http://schemas.openxmlformats.org/officeDocument/2006/relationships/slide" Target="/ppt/slides/slide3.xml" Id="Rf92ca9c0e6314a3a" /><Relationship Type="http://schemas.openxmlformats.org/officeDocument/2006/relationships/slide" Target="/ppt/slides/slide4.xml" Id="Rf44136ef68f04cba" /><Relationship Type="http://schemas.openxmlformats.org/officeDocument/2006/relationships/slide" Target="/ppt/slides/slide5.xml" Id="R190335a1c9b74a2c" /><Relationship Type="http://schemas.openxmlformats.org/officeDocument/2006/relationships/slide" Target="/ppt/slides/slide6.xml" Id="R1edb796811094988" /><Relationship Type="http://schemas.openxmlformats.org/officeDocument/2006/relationships/slide" Target="/ppt/slides/slide7.xml" Id="R8ee4cd4792db4b41" /><Relationship Type="http://schemas.openxmlformats.org/officeDocument/2006/relationships/slide" Target="/ppt/slides/slide8.xml" Id="R2a52b4ea23f248f8" /><Relationship Type="http://schemas.openxmlformats.org/officeDocument/2006/relationships/slide" Target="/ppt/slides/slide9.xml" Id="Rff2c85751c2c4aca" /><Relationship Type="http://schemas.openxmlformats.org/officeDocument/2006/relationships/slide" Target="/ppt/slides/slide10.xml" Id="R449966d217df49d8" /><Relationship Type="http://schemas.openxmlformats.org/officeDocument/2006/relationships/slide" Target="/ppt/slides/slide11.xml" Id="Rb6fa45428b93483d" /><Relationship Type="http://schemas.openxmlformats.org/officeDocument/2006/relationships/slide" Target="/ppt/slides/slide12.xml" Id="R52485b16257042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18edf7b217646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b797901a824799" /><Relationship Type="http://schemas.openxmlformats.org/officeDocument/2006/relationships/notesMaster" Target="/ppt/notesMasters/notesMaster1.xml" Id="R4edd221f42ac45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bc71401f5c4b23" /><Relationship Type="http://schemas.openxmlformats.org/officeDocument/2006/relationships/notesMaster" Target="/ppt/notesMasters/notesMaster1.xml" Id="Ra9eefe24dd274d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21182c75f44dc4" /><Relationship Type="http://schemas.openxmlformats.org/officeDocument/2006/relationships/notesMaster" Target="/ppt/notesMasters/notesMaster1.xml" Id="R333c43f349a146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851f57f90b405b" /><Relationship Type="http://schemas.openxmlformats.org/officeDocument/2006/relationships/notesMaster" Target="/ppt/notesMasters/notesMaster1.xml" Id="R4159647f7ef04f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ba30408e6244fc" /><Relationship Type="http://schemas.openxmlformats.org/officeDocument/2006/relationships/notesMaster" Target="/ppt/notesMasters/notesMaster1.xml" Id="Rc40bf6ec382049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a1ba4e487042a9" /><Relationship Type="http://schemas.openxmlformats.org/officeDocument/2006/relationships/notesMaster" Target="/ppt/notesMasters/notesMaster1.xml" Id="Rbf25371008e345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fe34f7468144a8" /><Relationship Type="http://schemas.openxmlformats.org/officeDocument/2006/relationships/notesMaster" Target="/ppt/notesMasters/notesMaster1.xml" Id="R059c4c4c15ad44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d8732a9cc146a1" /><Relationship Type="http://schemas.openxmlformats.org/officeDocument/2006/relationships/notesMaster" Target="/ppt/notesMasters/notesMaster1.xml" Id="R681b9fb6160941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e48c0603364503" /><Relationship Type="http://schemas.openxmlformats.org/officeDocument/2006/relationships/notesMaster" Target="/ppt/notesMasters/notesMaster1.xml" Id="R8b71f438a91649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3e767bf23449dd" /><Relationship Type="http://schemas.openxmlformats.org/officeDocument/2006/relationships/notesMaster" Target="/ppt/notesMasters/notesMaster1.xml" Id="R5b63ad9a8ad442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1f4041129841b9" /><Relationship Type="http://schemas.openxmlformats.org/officeDocument/2006/relationships/notesMaster" Target="/ppt/notesMasters/notesMaster1.xml" Id="Rdd759c87f41646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f70db292e6475c" /><Relationship Type="http://schemas.openxmlformats.org/officeDocument/2006/relationships/notesMaster" Target="/ppt/notesMasters/notesMaster1.xml" Id="Rec388c9035084c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aaebbe1f9c401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aec7e0cbef94921" /><Relationship Type="http://schemas.openxmlformats.org/officeDocument/2006/relationships/slideLayout" Target="/ppt/slideLayouts/slideLayout2.xml" Id="Rd2de95c681f74f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de95c681f74f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fa13f40ec3435c" /><Relationship Type="http://schemas.openxmlformats.org/officeDocument/2006/relationships/image" Target="/ppt/media/image.png" Id="R7a8398f01d7e4fec" /><Relationship Type="http://schemas.openxmlformats.org/officeDocument/2006/relationships/notesSlide" Target="/ppt/notesSlides/notesSlide1.xml" Id="Rc4d8dfea4d6b41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15900c7aca47ae" /><Relationship Type="http://schemas.openxmlformats.org/officeDocument/2006/relationships/notesSlide" Target="/ppt/notesSlides/notesSlide2.xml" Id="R810dba2f71094d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79dfa9b5f0479f" /><Relationship Type="http://schemas.openxmlformats.org/officeDocument/2006/relationships/notesSlide" Target="/ppt/notesSlides/notesSlide3.xml" Id="R717374c6423343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b912f440e74f59" /><Relationship Type="http://schemas.openxmlformats.org/officeDocument/2006/relationships/image" Target="/ppt/media/image2.png" Id="Rb7e6fd2bb0cd47c7" /><Relationship Type="http://schemas.openxmlformats.org/officeDocument/2006/relationships/notesSlide" Target="/ppt/notesSlides/notesSlide4.xml" Id="R2e9e6659814743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91ff7acda945a1" /><Relationship Type="http://schemas.openxmlformats.org/officeDocument/2006/relationships/image" Target="/ppt/media/image3.png" Id="R2b8a4f82a86a4ff1" /><Relationship Type="http://schemas.openxmlformats.org/officeDocument/2006/relationships/notesSlide" Target="/ppt/notesSlides/notesSlide5.xml" Id="R732ceb95b6344f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9b90ecf1f648d6" /><Relationship Type="http://schemas.openxmlformats.org/officeDocument/2006/relationships/notesSlide" Target="/ppt/notesSlides/notesSlide6.xml" Id="Rcbc1e7c1410348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a2e4ef4155471d" /><Relationship Type="http://schemas.openxmlformats.org/officeDocument/2006/relationships/notesSlide" Target="/ppt/notesSlides/notesSlide7.xml" Id="R2c4598b03c7f46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d568ddc6ce431b" /><Relationship Type="http://schemas.openxmlformats.org/officeDocument/2006/relationships/notesSlide" Target="/ppt/notesSlides/notesSlide8.xml" Id="Rc03cb3c386af46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d17ab769404fd5" /><Relationship Type="http://schemas.openxmlformats.org/officeDocument/2006/relationships/notesSlide" Target="/ppt/notesSlides/notesSlide9.xml" Id="Rda32fbfdda894b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8657e9daca4c5e" /><Relationship Type="http://schemas.openxmlformats.org/officeDocument/2006/relationships/notesSlide" Target="/ppt/notesSlides/notesSlide10.xml" Id="R48658189c63946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ee457b17774933" /><Relationship Type="http://schemas.openxmlformats.org/officeDocument/2006/relationships/notesSlide" Target="/ppt/notesSlides/notesSlide11.xml" Id="R5b7c70c698af42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7f83ebbcee45e5" /><Relationship Type="http://schemas.openxmlformats.org/officeDocument/2006/relationships/image" Target="/ppt/media/image4.png" Id="R30a067e37a4c47dc" /><Relationship Type="http://schemas.openxmlformats.org/officeDocument/2006/relationships/notesSlide" Target="/ppt/notesSlides/notesSlide12.xml" Id="R03796a960394423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734D0A-C6C1-48C7-8D2B-104A3C98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29BD4-470E-4F48-ABED-46E160F2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398f01d7e4fec"/>
          <a:srcRect xmlns:a="http://schemas.openxmlformats.org/drawingml/2006/main" l="909" t="0" r="9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6600" y="514350"/>
            <a:ext cx="4552950" cy="26098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49B3F-24E9-4B55-B68B-7B4C8EDA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4350"/>
            <a:ext cx="3810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F469C-170C-4309-9760-A8D37243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6AE0E-271A-49C8-93E7-ACD15B77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69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PROJECT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DE5C0-0713-4DAE-ACA2-A3A6A4ED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UnnamedGame</a:t>
            </a:r>
          </a:p>
          <a:p xmlns:a="http://schemas.openxmlformats.org/drawingml/2006/main">
            <a:pPr algn="l">
              <a:defRPr sz="390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完整專案報告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38B87-76A1-4B94-866F-5F852E9E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5857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B2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32B2F"/>
                </a:solidFill>
                <a:latin typeface="Georgia"/>
                <a:ea typeface="Georgia"/>
                <a:cs typeface="Georgia"/>
              </a:rPr>
              <a:t>Godot 4.6 C# 遊戲主程式、Spring Boot API、以及新補齊的管理後台已可被整理成同一個產品敘事。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19EF0-7AC0-4AAD-A623-DFAEB84E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BA08BD-2090-4AF2-85AC-AC474A97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05375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A8A9-AB39-4A8B-8B68-97A66212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86325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3 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E6879-1988-4434-9C46-668B47E0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67325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788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產品構成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D23F68-6983-46A7-8113-9920438B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48300"/>
            <a:ext cx="173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Game client / API / Admin console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BBD58D-6E85-4101-838C-39EC7BDE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905375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89853-6EF8-4339-ACE2-4ED9E789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886325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42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05D96B-4F05-42E8-9775-FD3B59F6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267325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788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C# scripts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AB81DE-609F-47A7-9204-136D8C5C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448300"/>
            <a:ext cx="173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遊戲端 zip 中的程式腳本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ED834C-ACDE-4350-A62A-3018D6E0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905375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3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378024-0E30-4E03-9825-CB3F22C0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86325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3,210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16B8EB-4CD0-441B-A8BB-1DC6215A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267325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788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client entries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121ED1-2CC4-4821-A4CA-E4FFB1C1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448300"/>
            <a:ext cx="173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zip 內檔案與資料夾項目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7C1336-B418-4F04-A355-C453C9A6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64DEE5-8A51-451E-8E7F-D2CF72D4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86325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576B30-19B4-4A66-A3B7-33D512F8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67325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788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report chapters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DE63C9-DC80-405F-9838-7A0C781E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448300"/>
            <a:ext cx="173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從玩法到整合路線圖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4CD0A8-9D74-485D-AF51-99F2B375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54F408-3062-4E8E-9412-B9427850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Source: local repo, client zip, extracted title asset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5CE4A0-241C-4458-9669-B6AE4747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885421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12C248-4B9B-4571-93DB-87F14AEA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743EC-E981-4437-9494-9A71A524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scope-marker">
            <a:extLst xmlns:a="http://schemas.openxmlformats.org/drawingml/2006/main">
              <a:ext uri="{FF2B5EF4-FFF2-40B4-BE49-F238E27FC236}">
                <a16:creationId xmlns:a16="http://schemas.microsoft.com/office/drawing/2014/main" id="{DA78ADDE-99EC-4A42-9D2A-1709FAF5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3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scope-label">
            <a:extLst xmlns:a="http://schemas.openxmlformats.org/drawingml/2006/main">
              <a:ext uri="{FF2B5EF4-FFF2-40B4-BE49-F238E27FC236}">
                <a16:creationId xmlns:a16="http://schemas.microsoft.com/office/drawing/2014/main" id="{C8F531D0-FDF3-4919-BB64-7F70226C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50" b="1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DF79A-1869-4ABE-92D0-62E71A2D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04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這個專案的價值不在單一模組，而在遊戲、服務、後台三層已經能形成閉環。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52BB0-7E68-45DB-90F9-EB2D8EFE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8477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938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目前可展示的主體包含可執行遊戲邏輯、可被遊戲呼叫的 API，以及可管理玩家、道具、背包與管理員的後台。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71B71-FE95-4185-A901-74B01649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96C11-D684-490F-B182-D33EA1A3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8C78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2F8C7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EB9CF2-5C3F-4D0C-8D20-02032F5E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71800"/>
            <a:ext cx="2076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Godot 遊戲端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9E662-22B0-4D8C-81CC-3E1834E1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2076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65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登入註冊、基地大廳、難度選擇、程序化迷宮、戰鬥、寶箱、金幣、背包、裝備與商人流程。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CA010-6BDB-433D-B8D2-988C7C85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5760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55DFF-348A-4A9F-9319-E0BD55DB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19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B4346-6ED4-4230-884C-A6D92B8C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003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846DF5-AEC2-4140-90A8-6DCE0BAA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718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57A46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557A4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0E9014-B791-489D-900E-EDF4CE7A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71800"/>
            <a:ext cx="2076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Spring Boot 服務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40D84E-36CE-436E-8E83-2EF8AB04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57550"/>
            <a:ext cx="2076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65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玩家認證、玩家資訊、狀態、裝備、倉庫、道具取得、消耗與移動，另含 JWT 與資料初始化。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CCBC89-80B4-49D7-807D-5340D035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5760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9A41AE-2D05-464D-B4C1-BD56149F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19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D548ED-DF37-4610-B8B2-94F5D09D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00350"/>
            <a:ext cx="23241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EEBE0B-9569-4818-AF45-92BCEF7C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718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49336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D4933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A21589-AF74-44AF-9183-C24CD653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71800"/>
            <a:ext cx="1543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管理後台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283C17-71AA-4E45-9733-1D6EB584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57550"/>
            <a:ext cx="1543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65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前端頁面、管理登入、玩家管理、背包發放/移除、道具 CRUD、管理員帳號與操作紀錄。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92EA0A-DEEF-4846-941E-D362598E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0"/>
            <a:ext cx="9563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8AE224-4BF3-442E-8EC4-73617720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67325"/>
            <a:ext cx="908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報告主張：目前專案已具產品雛形，下一步不是重做，而是完成遊戲端 runtime 行為與後端持久化 API 的一致性。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C85A2C-9C5C-4746-AA95-F59BF9FA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D760AF-4B32-43D9-8FF2-EC792D40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Source: Spring Boot repository and MazeGame_Client-dev-p1.zip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F080D2-8CCA-4494-B5EF-02778B74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387118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D04E63-9F1C-42B9-9ACD-CCE70760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F1FDB-30EC-44F0-AD72-5F618321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architecture-marker">
            <a:extLst xmlns:a="http://schemas.openxmlformats.org/drawingml/2006/main">
              <a:ext uri="{FF2B5EF4-FFF2-40B4-BE49-F238E27FC236}">
                <a16:creationId xmlns:a16="http://schemas.microsoft.com/office/drawing/2014/main" id="{9300B2E7-80A8-4064-87EC-37083768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3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architecture-label">
            <a:extLst xmlns:a="http://schemas.openxmlformats.org/drawingml/2006/main">
              <a:ext uri="{FF2B5EF4-FFF2-40B4-BE49-F238E27FC236}">
                <a16:creationId xmlns:a16="http://schemas.microsoft.com/office/drawing/2014/main" id="{4470AF46-FB53-4219-A899-47A0292E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50" b="1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67890-75B0-45B3-8A22-05054E33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04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系統架構已分層清楚，風險集中在端點契約對齊。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C11E6-D7FE-4203-A441-011365B9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286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35032-07E7-49DD-8781-4B179611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73768-965E-46E6-9B29-637A5F8B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Godot client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D5CD1-21B0-44CE-84B1-BCAE274B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18288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Main.tscn</a:t>
            </a:r>
          </a:p>
          <a:p xmlns:a="http://schemas.openxmlformats.org/drawingml/2006/main">
            <a:pPr algn="ctr">
              <a:defRPr sz="1125" b="0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Main.*.cs</a:t>
            </a:r>
          </a:p>
          <a:p xmlns:a="http://schemas.openxmlformats.org/drawingml/2006/main">
            <a:pPr algn="ctr">
              <a:defRPr sz="1125" b="0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Remote repositories</a:t>
            </a:r>
          </a:p>
          <a:p xmlns:a="http://schemas.openxmlformats.org/drawingml/2006/main">
            <a:pPr algn="ctr">
              <a:defRPr sz="1125" b="0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Session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D8C8C-5C4A-4053-A04B-BAB19714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480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F6CDB3-18AB-4FF8-BA2B-00CAE1CA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9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57863F-03E3-4734-8942-2C5A84CD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09800"/>
            <a:ext cx="2286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8285D0-8041-449D-824B-EE207BA9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098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89C16-B725-4A1A-B976-AD81E3BC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2410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Spring Boot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41B12B-31FE-48D9-9681-7EE32E83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95600"/>
            <a:ext cx="18288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Auth controllers</a:t>
            </a:r>
          </a:p>
          <a:p xmlns:a="http://schemas.openxmlformats.org/drawingml/2006/main">
            <a:pPr algn="ctr">
              <a:defRPr sz="1125" b="0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Player controllers</a:t>
            </a:r>
          </a:p>
          <a:p xmlns:a="http://schemas.openxmlformats.org/drawingml/2006/main">
            <a:pPr algn="ctr">
              <a:defRPr sz="1125" b="0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PlayerItem storage</a:t>
            </a:r>
          </a:p>
          <a:p xmlns:a="http://schemas.openxmlformats.org/drawingml/2006/main">
            <a:pPr algn="ctr">
              <a:defRPr sz="1125" b="0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JWT filter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4B2926-EC67-4A83-A353-73655A4D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480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254686-4A4A-4984-92E1-67BD4070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D49F93-CB8E-46CE-8D2F-6FAE69E7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2286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A50DB2-98DB-469F-81B1-21A2847E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3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6620C4-C854-46A3-96C9-21268EB0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Admin console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B59332-223D-46F3-8EF4-E800EFFE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95600"/>
            <a:ext cx="18288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static/admin SPA</a:t>
            </a:r>
          </a:p>
          <a:p xmlns:a="http://schemas.openxmlformats.org/drawingml/2006/main">
            <a:pPr algn="ctr">
              <a:defRPr sz="1125" b="0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Admin controllers</a:t>
            </a:r>
          </a:p>
          <a:p xmlns:a="http://schemas.openxmlformats.org/drawingml/2006/main">
            <a:pPr algn="ctr">
              <a:defRPr sz="1125" b="0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Admin services</a:t>
            </a:r>
          </a:p>
          <a:p xmlns:a="http://schemas.openxmlformats.org/drawingml/2006/main">
            <a:pPr algn="ctr">
              <a:defRPr sz="1125" b="0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Operation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FDA346-7889-42A9-9E0B-836BED5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480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88729C-CA07-4B04-8FD6-A988C536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09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34D84C-0A66-4EBC-A41D-23F5816A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2286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03F22B-C9D0-493F-957D-A12B9BF1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F3B761-5051-48DC-9305-EFE51B03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2410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Persistence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739101-B542-459B-B853-9D8B9182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95600"/>
            <a:ext cx="18288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Player</a:t>
            </a:r>
          </a:p>
          <a:p xmlns:a="http://schemas.openxmlformats.org/drawingml/2006/main">
            <a:pPr algn="ctr">
              <a:defRPr sz="1125" b="0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Stats</a:t>
            </a:r>
          </a:p>
          <a:p xmlns:a="http://schemas.openxmlformats.org/drawingml/2006/main">
            <a:pPr algn="ctr">
              <a:defRPr sz="1125" b="0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Equipment</a:t>
            </a:r>
          </a:p>
          <a:p xmlns:a="http://schemas.openxmlformats.org/drawingml/2006/main">
            <a:pPr algn="ctr">
              <a:defRPr sz="1125" b="0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Inventory</a:t>
            </a:r>
          </a:p>
          <a:p xmlns:a="http://schemas.openxmlformats.org/drawingml/2006/main">
            <a:pPr algn="ctr">
              <a:defRPr sz="1125" b="0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Item</a:t>
            </a:r>
          </a:p>
          <a:p xmlns:a="http://schemas.openxmlformats.org/drawingml/2006/main">
            <a:pPr algn="ctr">
              <a:defRPr sz="1125" b="0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Admin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3E84B6-C4EC-4C76-905D-584ACF59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051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50" b="1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HTTP / JSON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E02228-8C93-4C32-BC1A-0B40CFED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50" b="1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REST services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310DB7-51DB-440F-92DD-A22F742B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051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50" b="1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JPA repositories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4188BC-1F61-4960-8F50-AD069A67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95875"/>
            <a:ext cx="8267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2A3C89-51CB-4108-86C4-0E130109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38750"/>
            <a:ext cx="7734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32B2F"/>
                </a:solidFill>
                <a:latin typeface="PingFang TC"/>
                <a:ea typeface="PingFang TC"/>
                <a:cs typeface="PingFang TC"/>
              </a:defRPr>
            </a:pPr>
            <a:r>
              <a:rPr sz="1013" b="0">
                <a:solidFill>
                  <a:srgbClr val="132B2F"/>
                </a:solidFill>
                <a:latin typeface="PingFang TC"/>
                <a:ea typeface="PingFang TC"/>
                <a:cs typeface="PingFang TC"/>
              </a:rPr>
              <a:t>關鍵判斷：遊戲端不是空殼。它已有狀態機與 gameplay service，只是部分倉庫、裝備、商店、結算行為仍需要後端補完。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E6A998-2593-4347-9531-AB3FDD59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F3E960-8A5D-4DAA-B502-D27070E3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Source: Spring Boot repository and MazeGame_Client-dev-p1.zip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F81961-D797-4B1A-AC6E-F8429C8A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7805862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281B51-D29A-4E45-B4E0-5AE451A2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3040D-C749-443B-BD41-50B08BAB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game flow-marker">
            <a:extLst xmlns:a="http://schemas.openxmlformats.org/drawingml/2006/main">
              <a:ext uri="{FF2B5EF4-FFF2-40B4-BE49-F238E27FC236}">
                <a16:creationId xmlns:a16="http://schemas.microsoft.com/office/drawing/2014/main" id="{B83EC885-708D-4F8F-B756-DCA6AEF3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3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game flow-label">
            <a:extLst xmlns:a="http://schemas.openxmlformats.org/drawingml/2006/main">
              <a:ext uri="{FF2B5EF4-FFF2-40B4-BE49-F238E27FC236}">
                <a16:creationId xmlns:a16="http://schemas.microsoft.com/office/drawing/2014/main" id="{688EC8E9-8CD0-41E2-8660-1545DF76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50" b="1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GAME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002EC-33C7-4181-9598-9A7C6715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04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遊戲端已具完整狀態流：登入、基地、迷宮到結算。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6fd2bb0cd47c7"/>
          <a:stretch xmlns:a="http://schemas.openxmlformats.org/drawingml/2006/main"/>
        </p:blipFill>
        <p:spPr>
          <a:xfrm xmlns:a="http://schemas.openxmlformats.org/drawingml/2006/main">
            <a:off x="8572500" y="921798"/>
            <a:ext cx="2724150" cy="152825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B1434-72C8-440E-90BB-C416E66B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ED849-3477-42D0-ADEF-879C3D87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49336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D4933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C5968-CED6-4D6C-BCC8-EE0DE9C1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Login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DDFA0-1059-4A8A-8CA9-7A5B7FB1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JWT / player 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15E9C-D496-4053-9E66-010EAEDC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957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E0C857-2007-43C2-8E5B-6AF2C293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D4BB0-B044-4EAA-8D02-5A42F938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575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C7614-7F8D-40DB-8A5B-90354272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718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A46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557A4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8ACA2-4572-4C69-8F19-14BED0AF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385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Start menu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0C39BC-9AA9-4A71-9095-BD4B56C0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8862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開始、設定、離開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DFE81F-1039-4867-9F92-76EBBB16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6957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7C964B-E6FF-4204-9D6C-FA229579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6C69B5-E8DB-4EA2-ABDE-963B1B9B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575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DFD72-E9F1-4EED-AE49-74AD4BF6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718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49336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D4933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641B86-0E38-44CF-A91E-27751CE7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385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Base hub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20E3C1-F708-4185-8B3E-1408BF4E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862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床、倉庫、傳送門、商人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1BCA76-34C8-4DA1-91E9-31779443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957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7153BA-64A7-4F63-950D-56391116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30879E-17B8-4108-814D-B6B8A4B0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2575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4F1ADB-3F8F-4783-A835-ED4B1110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718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A46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557A4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4CB80F-0BDE-4CAA-A33D-41B99CB0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385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Difficulty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70079A-5BE4-46CD-9D39-578182FE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862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Easy / Normal / Hard / Hell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9523EC-511D-43FA-A657-E63006B0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957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1FF61B-F51B-4124-9B8F-ABE4E1D6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ABDD24-CB65-4319-B7BF-AFAACDEB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575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1FB6E7-175A-434C-9BD4-89B33CC1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718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49336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D4933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67B1BA-03A5-4D2F-9304-928BDE8A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Playing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117B64-A8B0-448F-ADE8-1D01FDFE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862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探索、戰鬥、拾取、倒數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347743-DA63-4970-AA6E-508059E4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5894DC-E49D-47E2-80FE-1ACF3A82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71C622-2DD9-4250-BFD2-8952A824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2575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2AB0E3-8CDE-45F2-B5EA-DE174A5C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3718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A46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557A46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68C0CC-F640-4237-8CF7-633CAB96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6385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Result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B2BE59-EB47-4FEF-AC32-69CA672B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8862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Success / Timeout / revive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8A3D4B-DFC3-403F-8456-8FD4DA31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788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UI 狀態完整度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0774EE-4954-481A-938F-64D32124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914900"/>
            <a:ext cx="3124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3F0C33-4290-4AC7-A3A5-85A023DF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914900"/>
            <a:ext cx="274929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063EE1-F54A-425C-8DF1-E0A4CDD8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863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登入到結算具主流程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CA8EA5-51E2-410C-B69C-F1784716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482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788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後端保存完整度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E68C6F-D6BF-4261-918C-77CBCC2D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76850"/>
            <a:ext cx="3124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9EB3B5-F31F-4648-9434-6B7B9706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76850"/>
            <a:ext cx="162458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3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78CEAD-AA7E-40EB-9EA0-8A6234B1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2482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runtime 結算仍待擴充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6E217BB-50A0-47E7-802B-D7ACD683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02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788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展示可說明性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28E422-63D1-4493-84FD-6F6A0511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638800"/>
            <a:ext cx="3124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1A5FC97-60D1-4934-84AC-6C8362CF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638800"/>
            <a:ext cx="256184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140CAB-2C29-4C0E-BEF2-202078F2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6102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流程清楚，可做報告展示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06022B9-578A-4C0C-941D-711EC391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2920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938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遊戲端 `_apiBaseUrl` 指向 127.0.0.1:8080/api/，報告可自然銜接 Spring Boot 測試環境。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A148B0-92CB-4D8B-B222-52C9F5DC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E5D1D28-FA1E-4E52-9002-B8FD18E3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Source: scripts/Main.cs, Main.Auth.cs, Main.BaseHub.cs, Main.UI.cs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FCFACB2-6C4B-49F8-89E4-216AC042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056176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EACEEC-F205-4821-B805-A54DB401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D8668-E927-4790-82BD-AFDB7AB5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gameplay-marker">
            <a:extLst xmlns:a="http://schemas.openxmlformats.org/drawingml/2006/main">
              <a:ext uri="{FF2B5EF4-FFF2-40B4-BE49-F238E27FC236}">
                <a16:creationId xmlns:a16="http://schemas.microsoft.com/office/drawing/2014/main" id="{E2857E7F-964E-4402-9B7F-8E14BDDE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3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gameplay-label">
            <a:extLst xmlns:a="http://schemas.openxmlformats.org/drawingml/2006/main">
              <a:ext uri="{FF2B5EF4-FFF2-40B4-BE49-F238E27FC236}">
                <a16:creationId xmlns:a16="http://schemas.microsoft.com/office/drawing/2014/main" id="{929FF92B-1CDE-4E0A-ACD4-C53BC933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50" b="1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GAMEPLAY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AF023-C82F-4DFD-BC55-6CA2BA6E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04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迷宮玩法的主體已成立：生成、探索、遭遇、掉落與回收構成核心循環。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a4f82a86a4ff1"/>
          <a:srcRect xmlns:a="http://schemas.openxmlformats.org/drawingml/2006/main" l="12600" t="0" r="126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962150"/>
            <a:ext cx="3429000" cy="2571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4EE7A-0A08-4FAF-BA80-163C6D35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866900"/>
            <a:ext cx="438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9AFCF-09F0-4688-A55E-21924A4D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812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938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DFS maze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34B9FF-1916-43D7-A43F-D03CA75A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3575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MazeWidth / MazeHeight</a:t>
            </a:r>
          </a:p>
          <a:p xmlns:a="http://schemas.openxmlformats.org/drawingml/2006/main">
            <a:pPr algn="l">
              <a:def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ExtraLoopChance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3D7AF-E8A6-4F26-B755-502B7ABE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4315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FC2CA-0B6C-49C0-BE97-BD0CA83D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90800"/>
            <a:ext cx="438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6A725-04E7-4102-8A2B-2718C8B6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051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938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Rooms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13D99-1363-474F-81D2-1E621E9A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7475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special rooms</a:t>
            </a:r>
          </a:p>
          <a:p xmlns:a="http://schemas.openxmlformats.org/drawingml/2006/main">
            <a:pPr algn="l">
              <a:def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chest rooms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CB4CBF-3A65-4F46-BD09-6E64A488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6705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86832C-D79D-472F-AECD-FB1631FD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14700"/>
            <a:ext cx="438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EA9BD-ADAE-4A3F-BF19-6138F1D9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290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938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Run systems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4BC579-424A-45EB-A1D5-5DF8C6B8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81375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fog / minimap</a:t>
            </a:r>
          </a:p>
          <a:p xmlns:a="http://schemas.openxmlformats.org/drawingml/2006/main">
            <a:pPr algn="l">
              <a:def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sprint / jump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1A2C8A-950D-4960-8D45-81E36A97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9095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9CE29E-A2F5-4703-9579-DC0BBB4D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38600"/>
            <a:ext cx="438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C079FC-71A1-4B99-89DF-597C6CD2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1529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938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Encounters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6D9BCE-DF58-4A4D-8D41-7DAD7050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05275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monsters</a:t>
            </a:r>
          </a:p>
          <a:p xmlns:a="http://schemas.openxmlformats.org/drawingml/2006/main">
            <a:pPr algn="l">
              <a:def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combat cooldown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46C7DF-CA8C-412C-800E-ABFE5C99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51485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D628FD-F273-4CC0-84A5-22B044CE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762500"/>
            <a:ext cx="438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30A984-6B23-4834-9AF8-86FBF891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768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938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Rewards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A89FAA-FE5B-49BF-896C-5282A918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29175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coins</a:t>
            </a:r>
          </a:p>
          <a:p xmlns:a="http://schemas.openxmlformats.org/drawingml/2006/main">
            <a:pPr algn="l">
              <a:def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chests</a:t>
            </a:r>
          </a:p>
          <a:p xmlns:a="http://schemas.openxmlformats.org/drawingml/2006/main">
            <a:pPr algn="l">
              <a:def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drops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ED98CB-C80B-4C01-B196-6223D328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3162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953B21-433E-4CD0-9665-6A29B117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395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38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報告解讀：這不是單關卡 hard-code，而是具有可調參數的程序化地城框架。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8F3B8B-97E5-4373-983E-3B190BF5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CA0D16-CE54-44FC-B46D-691CCE25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Source: scripts/DungeonGenerator.cs, Main.LocalGameplay.cs, Main.Inventory.cs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2CC94A-7A89-4AFD-9366-59A125BE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715602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3B09C3-D852-4038-803A-AD4DF44B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F1068-0152-4E36-A15D-45C0EFDA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economy-marker">
            <a:extLst xmlns:a="http://schemas.openxmlformats.org/drawingml/2006/main">
              <a:ext uri="{FF2B5EF4-FFF2-40B4-BE49-F238E27FC236}">
                <a16:creationId xmlns:a16="http://schemas.microsoft.com/office/drawing/2014/main" id="{75BFD82C-509D-427E-AB5F-31E5D44A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3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economy-label">
            <a:extLst xmlns:a="http://schemas.openxmlformats.org/drawingml/2006/main">
              <a:ext uri="{FF2B5EF4-FFF2-40B4-BE49-F238E27FC236}">
                <a16:creationId xmlns:a16="http://schemas.microsoft.com/office/drawing/2014/main" id="{1AE35B2D-71D8-431C-8D54-151C905B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50" b="1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ECONOMY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E642D-CC35-4722-929C-8DC633B7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04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道具、背包、裝備與商人流程已設計成長期留存循環，但仍需要後端完成持久化。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FEA0A-2E2D-405E-9569-FCD10D96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2190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BC564-BA34-4CCB-9839-19704247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8C78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2F8C78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D1AA46-3327-4A48-998D-1DAF3DD5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76500"/>
            <a:ext cx="1409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取得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9C9119-CA43-4CE9-9E57-576EDA91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62250"/>
            <a:ext cx="1409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65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擊敗敵人、開寶箱、拾取掉落物與金幣。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1AF2D8-B259-4027-9E15-0FD9BC2A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527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C2D03-EFCA-4A3E-8315-7BA44430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14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575C67-E713-4507-8C63-59F3AAB6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05050"/>
            <a:ext cx="2190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2B5140-974E-4BD2-91B1-7FE639E8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4765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57A46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557A46"/>
                </a:solidFill>
                <a:latin typeface="Georgia"/>
                <a:ea typeface="Georgia"/>
                <a:cs typeface="Georgia"/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E2F67-6D67-4A20-A1E4-485E09B1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76500"/>
            <a:ext cx="1409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整理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8D3F1-213E-40F5-AAE2-CCE4B5E4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62250"/>
            <a:ext cx="1409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65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背包格、倉庫、快捷欄與消耗品。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A5BDE-6311-41C6-B569-FF90D1F6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527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20C94-3247-4569-9BB3-7F841C0C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914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5649D7-CFFE-4E07-89C5-F5631485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05050"/>
            <a:ext cx="2190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56C187-0AA5-442A-8BB7-FCBFCFD5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765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49336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D49336"/>
                </a:solidFill>
                <a:latin typeface="Georgia"/>
                <a:ea typeface="Georgia"/>
                <a:cs typeface="Georgia"/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98873D-F429-450B-9997-ED58AF08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76500"/>
            <a:ext cx="1409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強化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4B949B-DD5D-4048-8BC8-89B1C898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62250"/>
            <a:ext cx="1409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65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武器、頭部、胸甲、盾牌、鞋子等裝備槽位。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0E5275-1DD6-4C28-9027-88CBF780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99D85D-E1F5-43D1-AF1F-A4E35C1A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914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9904AF-5FBE-41F4-A988-190F4EB6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305050"/>
            <a:ext cx="13811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5359A0-600E-4182-830B-9C0BEBA2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4765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5F38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B85F38"/>
                </a:solidFill>
                <a:latin typeface="Georgia"/>
                <a:ea typeface="Georgia"/>
                <a:cs typeface="Georgia"/>
              </a:rPr>
              <a:t>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BEAA93-AECD-4C20-8016-DEABE799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476500"/>
            <a:ext cx="6000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回收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703A87-21D0-4190-8DAB-34572CA6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762250"/>
            <a:ext cx="6000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65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販售、丟棄、結算更新。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4E4A1B-DE1D-4EB9-90CE-0F1AFB17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476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120A11-A9FD-499E-8402-B128469E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910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57A46"/>
                </a:solidFill>
                <a:latin typeface="PingFang TC"/>
                <a:ea typeface="PingFang TC"/>
                <a:cs typeface="PingFang TC"/>
              </a:defRPr>
            </a:pPr>
            <a:r>
              <a:rPr sz="938" b="1">
                <a:solidFill>
                  <a:srgbClr val="557A46"/>
                </a:solidFill>
                <a:latin typeface="PingFang TC"/>
                <a:ea typeface="PingFang TC"/>
                <a:cs typeface="PingFang TC"/>
              </a:rPr>
              <a:t>已存在於遊戲端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C2F319-4843-411C-955C-5E012162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81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本地 ItemPrototype、ItemStack、Quickbar、Inventory UI、Storage chest、Merchant interaction。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403520-34BF-4501-81F7-A3DEBCF2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19600"/>
            <a:ext cx="476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8068C6-E0CB-4542-B0D2-6B153FE1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910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B85F38"/>
                </a:solidFill>
                <a:latin typeface="PingFang TC"/>
                <a:ea typeface="PingFang TC"/>
                <a:cs typeface="PingFang TC"/>
              </a:defRPr>
            </a:pPr>
            <a:r>
              <a:rPr sz="938" b="1">
                <a:solidFill>
                  <a:srgbClr val="B85F38"/>
                </a:solidFill>
                <a:latin typeface="PingFang TC"/>
                <a:ea typeface="PingFang TC"/>
                <a:cs typeface="PingFang TC"/>
              </a:rPr>
              <a:t>待由後端收斂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19C9C0-BDA7-44AC-83DA-CACE4F62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768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81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sell / equip / unequip / drop / hotkey / merchant / settlement / item catalog 等正式端點與資料表契約。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E22E77-2C06-4A7C-9926-2E0C696A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0F14BF-0283-44EA-B206-1CD9A713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Source: Main.LocalGameplay.cs, Main.UI.cs, RemotePlayerRepository.cs, missing API.txt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507B1C-D86B-40F0-98CC-6E782A65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344033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F0AA31-FA3E-4004-9C59-78949E47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950A6-BE73-4E2A-B770-28BF15E3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backend-marker">
            <a:extLst xmlns:a="http://schemas.openxmlformats.org/drawingml/2006/main">
              <a:ext uri="{FF2B5EF4-FFF2-40B4-BE49-F238E27FC236}">
                <a16:creationId xmlns:a16="http://schemas.microsoft.com/office/drawing/2014/main" id="{BA58EDE9-0EBD-40D1-AC47-18883973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3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backend-label">
            <a:extLst xmlns:a="http://schemas.openxmlformats.org/drawingml/2006/main">
              <a:ext uri="{FF2B5EF4-FFF2-40B4-BE49-F238E27FC236}">
                <a16:creationId xmlns:a16="http://schemas.microsoft.com/office/drawing/2014/main" id="{BFBBE3D1-CC48-466C-AA5C-64B06C30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50" b="1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BACKEND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6EDA7-C7F5-4DF2-81F7-AAE23097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04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後端已覆蓋登入、玩家資訊、倉庫與管理操作，足以支撐第一版測試。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49098-5D4A-4DD9-8208-830052B3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21336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D5C1A-97FA-4E0F-8598-81F1A2C1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2133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C5413-134A-4E2A-A561-63ED0A48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Player auth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4F90E-DFB1-44A9-AD89-72A9CB65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171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32B2F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132B2F"/>
                </a:solidFill>
                <a:latin typeface="Georgia"/>
                <a:ea typeface="Georgia"/>
                <a:cs typeface="Georgia"/>
              </a:rPr>
              <a:t>login</a:t>
            </a:r>
          </a:p>
          <a:p xmlns:a="http://schemas.openxmlformats.org/drawingml/2006/main">
            <a:pPr algn="ctr">
              <a:defRPr sz="1200" b="0">
                <a:solidFill>
                  <a:srgbClr val="132B2F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132B2F"/>
                </a:solidFill>
                <a:latin typeface="Georgia"/>
                <a:ea typeface="Georgia"/>
                <a:cs typeface="Georgia"/>
              </a:rPr>
              <a:t>register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7ED52-FD50-4C42-AB6B-0D137674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09800"/>
            <a:ext cx="21336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070F0-60C5-4135-8F9D-8D8F8C14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09800"/>
            <a:ext cx="2133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B6494-7A12-42C8-B469-7896AF79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5146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Player profile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D9E06-3E7B-4757-8A8E-558E7686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952750"/>
            <a:ext cx="171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32B2F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132B2F"/>
                </a:solidFill>
                <a:latin typeface="Georgia"/>
                <a:ea typeface="Georgia"/>
                <a:cs typeface="Georgia"/>
              </a:rPr>
              <a:t>lobby</a:t>
            </a:r>
          </a:p>
          <a:p xmlns:a="http://schemas.openxmlformats.org/drawingml/2006/main">
            <a:pPr algn="ctr">
              <a:defRPr sz="1200" b="0">
                <a:solidFill>
                  <a:srgbClr val="132B2F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132B2F"/>
                </a:solidFill>
                <a:latin typeface="Georgia"/>
                <a:ea typeface="Georgia"/>
                <a:cs typeface="Georgia"/>
              </a:rPr>
              <a:t>stats</a:t>
            </a:r>
          </a:p>
          <a:p xmlns:a="http://schemas.openxmlformats.org/drawingml/2006/main">
            <a:pPr algn="ctr">
              <a:defRPr sz="1200" b="0">
                <a:solidFill>
                  <a:srgbClr val="132B2F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132B2F"/>
                </a:solidFill>
                <a:latin typeface="Georgia"/>
                <a:ea typeface="Georgia"/>
                <a:cs typeface="Georgia"/>
              </a:rPr>
              <a:t>equipment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AA42D-B393-4E56-B424-D18DC263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21336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D4394-BDCA-48E6-A915-85ADB13B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2133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3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0B130B-3818-4DF7-84EA-61219BF2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146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Game storage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D101CC-C1CE-49AD-8654-DC69A07B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171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32B2F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132B2F"/>
                </a:solidFill>
                <a:latin typeface="Georgia"/>
                <a:ea typeface="Georgia"/>
                <a:cs typeface="Georgia"/>
              </a:rPr>
              <a:t>storage</a:t>
            </a:r>
          </a:p>
          <a:p xmlns:a="http://schemas.openxmlformats.org/drawingml/2006/main">
            <a:pPr algn="ctr">
              <a:defRPr sz="1200" b="0">
                <a:solidFill>
                  <a:srgbClr val="132B2F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132B2F"/>
                </a:solidFill>
                <a:latin typeface="Georgia"/>
                <a:ea typeface="Georgia"/>
                <a:cs typeface="Georgia"/>
              </a:rPr>
              <a:t>gain</a:t>
            </a:r>
          </a:p>
          <a:p xmlns:a="http://schemas.openxmlformats.org/drawingml/2006/main">
            <a:pPr algn="ctr">
              <a:defRPr sz="1200" b="0">
                <a:solidFill>
                  <a:srgbClr val="132B2F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132B2F"/>
                </a:solidFill>
                <a:latin typeface="Georgia"/>
                <a:ea typeface="Georgia"/>
                <a:cs typeface="Georgia"/>
              </a:rPr>
              <a:t>consume</a:t>
            </a:r>
          </a:p>
          <a:p xmlns:a="http://schemas.openxmlformats.org/drawingml/2006/main">
            <a:pPr algn="ctr">
              <a:defRPr sz="1200" b="0">
                <a:solidFill>
                  <a:srgbClr val="132B2F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132B2F"/>
                </a:solidFill>
                <a:latin typeface="Georgia"/>
                <a:ea typeface="Georgia"/>
                <a:cs typeface="Georgia"/>
              </a:rPr>
              <a:t>move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93F111-8F47-4FE5-A8BD-E34C9CF6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09800"/>
            <a:ext cx="21336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EBA4A4-11F8-4FDE-9FAE-B796DF07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09800"/>
            <a:ext cx="2133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ADEDC6-2D8D-4204-AF5E-A96A2F55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146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Admin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0C6FB5-65E0-40F2-A740-A3E5E854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952750"/>
            <a:ext cx="171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32B2F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132B2F"/>
                </a:solidFill>
                <a:latin typeface="Georgia"/>
                <a:ea typeface="Georgia"/>
                <a:cs typeface="Georgia"/>
              </a:rPr>
              <a:t>login</a:t>
            </a:r>
          </a:p>
          <a:p xmlns:a="http://schemas.openxmlformats.org/drawingml/2006/main">
            <a:pPr algn="ctr">
              <a:defRPr sz="1200" b="0">
                <a:solidFill>
                  <a:srgbClr val="132B2F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132B2F"/>
                </a:solidFill>
                <a:latin typeface="Georgia"/>
                <a:ea typeface="Georgia"/>
                <a:cs typeface="Georgia"/>
              </a:rPr>
              <a:t>players</a:t>
            </a:r>
          </a:p>
          <a:p xmlns:a="http://schemas.openxmlformats.org/drawingml/2006/main">
            <a:pPr algn="ctr">
              <a:defRPr sz="1200" b="0">
                <a:solidFill>
                  <a:srgbClr val="132B2F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132B2F"/>
                </a:solidFill>
                <a:latin typeface="Georgia"/>
                <a:ea typeface="Georgia"/>
                <a:cs typeface="Georgia"/>
              </a:rPr>
              <a:t>inventory</a:t>
            </a:r>
          </a:p>
          <a:p xmlns:a="http://schemas.openxmlformats.org/drawingml/2006/main">
            <a:pPr algn="ctr">
              <a:defRPr sz="1200" b="0">
                <a:solidFill>
                  <a:srgbClr val="132B2F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132B2F"/>
                </a:solidFill>
                <a:latin typeface="Georgia"/>
                <a:ea typeface="Georgia"/>
                <a:cs typeface="Georgia"/>
              </a:rPr>
              <a:t>items</a:t>
            </a:r>
          </a:p>
          <a:p xmlns:a="http://schemas.openxmlformats.org/drawingml/2006/main">
            <a:pPr algn="ctr">
              <a:defRPr sz="1200" b="0">
                <a:solidFill>
                  <a:srgbClr val="132B2F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132B2F"/>
                </a:solidFill>
                <a:latin typeface="Georgia"/>
                <a:ea typeface="Georgia"/>
                <a:cs typeface="Georgia"/>
              </a:rPr>
              <a:t>accounts</a:t>
            </a:r>
          </a:p>
          <a:p xmlns:a="http://schemas.openxmlformats.org/drawingml/2006/main">
            <a:pPr algn="ctr">
              <a:defRPr sz="1200" b="0">
                <a:solidFill>
                  <a:srgbClr val="132B2F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132B2F"/>
                </a:solidFill>
                <a:latin typeface="Georgia"/>
                <a:ea typeface="Georgia"/>
                <a:cs typeface="Georgia"/>
              </a:rPr>
              <a:t>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E1C341-5636-4658-9CCB-9A1226BD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1038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00582A-CF2A-49D6-97DB-BA9A3C57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43475"/>
            <a:ext cx="984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資料域：Player、PlayerStats、PlayerEquipment、Inventory、PlayerItem、Item、Admin、OperationLog。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AB9638-D60D-48B7-B1B4-C6BA94CF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B0767C-ABAA-46DC-BE36-C53C54EE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Source: src/main/java/com/javaclass/game/controller and model packages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BD3BA3-0941-4E48-A1CD-91EA5B64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093148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A73DD5-5E62-4320-8863-2521F657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7DDA0-8114-4C4F-A5D9-EBF039F6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admin-marker">
            <a:extLst xmlns:a="http://schemas.openxmlformats.org/drawingml/2006/main">
              <a:ext uri="{FF2B5EF4-FFF2-40B4-BE49-F238E27FC236}">
                <a16:creationId xmlns:a16="http://schemas.microsoft.com/office/drawing/2014/main" id="{79A3D688-2485-42C2-B3D4-E69CBA9B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3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admin-label">
            <a:extLst xmlns:a="http://schemas.openxmlformats.org/drawingml/2006/main">
              <a:ext uri="{FF2B5EF4-FFF2-40B4-BE49-F238E27FC236}">
                <a16:creationId xmlns:a16="http://schemas.microsoft.com/office/drawing/2014/main" id="{D167B925-779A-4092-96C7-93C61A8B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50" b="1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ADMIN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AEF50-B70B-4176-8E3C-F7566797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04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管理後台前端已補齊，並補上可視化管理 API。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08810-611D-4C65-84A1-40F1403B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8CDCA9-26C9-4EC7-BC86-666AA078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73F3B-22A1-4284-B934-211AA69C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管理登入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A145B-D42E-454A-B13C-CBEE6EF2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5267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557A46"/>
                </a:solidFill>
                <a:latin typeface="PingFang TC"/>
                <a:ea typeface="PingFang TC"/>
                <a:cs typeface="PingFang TC"/>
              </a:defRPr>
            </a:pPr>
            <a:r>
              <a:rPr sz="705" b="1">
                <a:solidFill>
                  <a:srgbClr val="557A46"/>
                </a:solidFill>
                <a:latin typeface="PingFang TC"/>
                <a:ea typeface="PingFang TC"/>
                <a:cs typeface="PingFang TC"/>
              </a:rPr>
              <a:t>已可用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341148-E05A-48CF-A98D-7814A2F0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33625"/>
            <a:ext cx="8553450" cy="-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JWT 登入、menuList、localStorage session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F4249-D6B9-4C3F-A37F-B7450D61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2B4A0-B4C5-4968-B728-70CC5D06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1D406C-E371-4773-9ED5-DF430C34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玩家管理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E10D8B-B5E6-45C0-870E-9A7BB305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0512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557A46"/>
                </a:solidFill>
                <a:latin typeface="PingFang TC"/>
                <a:ea typeface="PingFang TC"/>
                <a:cs typeface="PingFang TC"/>
              </a:defRPr>
            </a:pPr>
            <a:r>
              <a:rPr sz="705" b="1">
                <a:solidFill>
                  <a:srgbClr val="557A46"/>
                </a:solidFill>
                <a:latin typeface="PingFang TC"/>
                <a:ea typeface="PingFang TC"/>
                <a:cs typeface="PingFang TC"/>
              </a:rPr>
              <a:t>已可用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42C9E-40EF-4ACF-847C-0A42CDE8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86075"/>
            <a:ext cx="8553450" cy="-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查詢、更新帳號資訊、狀態啟停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BCA9EB-AA04-4985-AC1A-D967B2D1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20C543-EF3E-45D5-813B-21CF8455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10EE0D-05E2-41C0-A99F-3826A6E6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背包管理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46AAB1-34C4-4BA7-BF91-CBFE4D9E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5757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557A46"/>
                </a:solidFill>
                <a:latin typeface="PingFang TC"/>
                <a:ea typeface="PingFang TC"/>
                <a:cs typeface="PingFang TC"/>
              </a:defRPr>
            </a:pPr>
            <a:r>
              <a:rPr sz="705" b="1">
                <a:solidFill>
                  <a:srgbClr val="557A46"/>
                </a:solidFill>
                <a:latin typeface="PingFang TC"/>
                <a:ea typeface="PingFang TC"/>
                <a:cs typeface="PingFang TC"/>
              </a:rPr>
              <a:t>已可用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218422-5572-4CC9-8E4F-124A41FE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38525"/>
            <a:ext cx="8553450" cy="-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依玩家查倉庫、發放、移除、操作紀錄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C72C87-3377-4737-9A8C-A48C97CD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708283-F8B2-461D-9110-E714C0D2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91EA86-14AD-4A29-BF77-6B4DC17D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道具管理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8BEE47-5FC7-46E3-8552-83B39554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002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557A46"/>
                </a:solidFill>
                <a:latin typeface="PingFang TC"/>
                <a:ea typeface="PingFang TC"/>
                <a:cs typeface="PingFang TC"/>
              </a:defRPr>
            </a:pPr>
            <a:r>
              <a:rPr sz="705" b="1">
                <a:solidFill>
                  <a:srgbClr val="557A46"/>
                </a:solidFill>
                <a:latin typeface="PingFang TC"/>
                <a:ea typeface="PingFang TC"/>
                <a:cs typeface="PingFang TC"/>
              </a:rPr>
              <a:t>已可用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166A26-3B96-4A37-A7BD-673D2032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90975"/>
            <a:ext cx="8553450" cy="-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列表、查詢、新增、更新、刪除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F140D6-68CE-45D3-B2DC-F7737F43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3DF8E4-CBD6-492B-A75C-8524816D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E012A0-3714-4290-8993-0844201D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帳號管理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190B95-160F-4EC2-A79B-5DA126ED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6247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557A46"/>
                </a:solidFill>
                <a:latin typeface="PingFang TC"/>
                <a:ea typeface="PingFang TC"/>
                <a:cs typeface="PingFang TC"/>
              </a:defRPr>
            </a:pPr>
            <a:r>
              <a:rPr sz="705" b="1">
                <a:solidFill>
                  <a:srgbClr val="557A46"/>
                </a:solidFill>
                <a:latin typeface="PingFang TC"/>
                <a:ea typeface="PingFang TC"/>
                <a:cs typeface="PingFang TC"/>
              </a:rPr>
              <a:t>已可用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5686F7-D01F-4F12-A34D-F535DC69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43425"/>
            <a:ext cx="8553450" cy="-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管理員列表與新增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3F8ECB-45EB-4E2A-A19D-CD19A72A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297DAD-83DE-4233-A3FB-034FC6C1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9735C9-ED2B-4E15-BA9C-C8B08FF5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操作紀錄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58C65F-5D52-4C4F-9CD1-A56BD0A3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1492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557A46"/>
                </a:solidFill>
                <a:latin typeface="PingFang TC"/>
                <a:ea typeface="PingFang TC"/>
                <a:cs typeface="PingFang TC"/>
              </a:defRPr>
            </a:pPr>
            <a:r>
              <a:rPr sz="705" b="1">
                <a:solidFill>
                  <a:srgbClr val="557A46"/>
                </a:solidFill>
                <a:latin typeface="PingFang TC"/>
                <a:ea typeface="PingFang TC"/>
                <a:cs typeface="PingFang TC"/>
              </a:rPr>
              <a:t>已可用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136954-736C-48BC-A89C-6FADEA56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95875"/>
            <a:ext cx="8553450" cy="-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管理行為可查詢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5FF138-0182-4FFD-9BE6-C3D64EAD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8640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938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後台頁面位於 static/admin，Spring Boot 以 /admin forward 進入 SPA。測試帳號可由 init.admin.account / password 設定。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27EA7E-B6B7-45C7-8903-C6ADE261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C58F05-A6A7-4E52-B393-E4C9CAB1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Source: static/admin, Admin*Controller, Admin*Service, OperationLog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826498-95D0-4BEE-8946-CF0CB66F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9711358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556773-08A9-4C80-9F2C-97E06966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32322-436B-4E6C-96F9-0C1C05E9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gap matrix-marker">
            <a:extLst xmlns:a="http://schemas.openxmlformats.org/drawingml/2006/main">
              <a:ext uri="{FF2B5EF4-FFF2-40B4-BE49-F238E27FC236}">
                <a16:creationId xmlns:a16="http://schemas.microsoft.com/office/drawing/2014/main" id="{35B1B1FB-1DA8-4C11-B4ED-0297C988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3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gap matrix-label">
            <a:extLst xmlns:a="http://schemas.openxmlformats.org/drawingml/2006/main">
              <a:ext uri="{FF2B5EF4-FFF2-40B4-BE49-F238E27FC236}">
                <a16:creationId xmlns:a16="http://schemas.microsoft.com/office/drawing/2014/main" id="{03D68DA0-05D6-40B7-A218-3EAF800D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50" b="1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GAP MATRIX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4AB2F-CCD9-4309-A60A-4C4C9537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04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剩餘未實作不是全面空缺，而是集中在遊戲 runtime 系統的 API 契約。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3391E-6E78-4E4D-8439-0D2DBBDC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8A3A8-30A8-4830-966C-5506CAC4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5E911-1434-460A-8BDE-AFEBFF82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登入 / 註冊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467BF-55A0-496F-8ADE-F2D975AB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9077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557A46"/>
                </a:solidFill>
                <a:latin typeface="PingFang TC"/>
                <a:ea typeface="PingFang TC"/>
                <a:cs typeface="PingFang TC"/>
              </a:defRPr>
            </a:pPr>
            <a:r>
              <a:rPr sz="705" b="1">
                <a:solidFill>
                  <a:srgbClr val="557A46"/>
                </a:solidFill>
                <a:latin typeface="PingFang TC"/>
                <a:ea typeface="PingFang TC"/>
                <a:cs typeface="PingFang TC"/>
              </a:rPr>
              <a:t>已可用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77C88-C6EC-457D-9270-EDF3D8BB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7172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client 與 backend 端點已對應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440365-37A4-448C-9CD3-3C4CBC94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6215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C1338-64B9-4DFA-993D-26288BCF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621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E670E-01BE-4AD4-977D-1ADAC7FA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145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Lobby / Stats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F1BB4-5A84-4CB7-BAEF-5C063F4B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557A46"/>
                </a:solidFill>
                <a:latin typeface="PingFang TC"/>
                <a:ea typeface="PingFang TC"/>
                <a:cs typeface="PingFang TC"/>
              </a:defRPr>
            </a:pPr>
            <a:r>
              <a:rPr sz="705" b="1">
                <a:solidFill>
                  <a:srgbClr val="557A46"/>
                </a:solidFill>
                <a:latin typeface="PingFang TC"/>
                <a:ea typeface="PingFang TC"/>
                <a:cs typeface="PingFang TC"/>
              </a:rPr>
              <a:t>已可用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712E6F-DBBF-4800-8670-ADC2FE58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7172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可讀取玩家摘要與能力值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5FE81-90C4-4FE5-9444-9CE5018C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6215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09AE00-6C09-4C52-A9DE-74597585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621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3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6DBE3C-AFAE-46F1-B3A7-FBC2C002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145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Storage list / move / consume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01C6F8-A4EF-48DC-B7D8-5142DEBE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9077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D49336"/>
                </a:solidFill>
                <a:latin typeface="PingFang TC"/>
                <a:ea typeface="PingFang TC"/>
                <a:cs typeface="PingFang TC"/>
              </a:defRPr>
            </a:pPr>
            <a:r>
              <a:rPr sz="705" b="1">
                <a:solidFill>
                  <a:srgbClr val="D49336"/>
                </a:solidFill>
                <a:latin typeface="PingFang TC"/>
                <a:ea typeface="PingFang TC"/>
                <a:cs typeface="PingFang TC"/>
              </a:rPr>
              <a:t>部分完成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4E75CE-E7AD-4009-884C-3D93BF4A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7172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新 repository 已部分轉接後端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CCBD02-FF2E-4055-8CE0-60892EDA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10E422-6B32-40C5-A10A-EFC2B446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3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235C64-450D-44B5-9B66-DF969D34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Equipment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F4D88E-6460-410D-A159-40F5C83D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9092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D49336"/>
                </a:solidFill>
                <a:latin typeface="PingFang TC"/>
                <a:ea typeface="PingFang TC"/>
                <a:cs typeface="PingFang TC"/>
              </a:defRPr>
            </a:pPr>
            <a:r>
              <a:rPr sz="705" b="1">
                <a:solidFill>
                  <a:srgbClr val="D49336"/>
                </a:solidFill>
                <a:latin typeface="PingFang TC"/>
                <a:ea typeface="PingFang TC"/>
                <a:cs typeface="PingFang TC"/>
              </a:rPr>
              <a:t>部分完成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755CB8-F760-4A9E-87BA-C25EECA3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7187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欄位相容處理存在，但 equip/unequip 端點待補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38C055-E8DA-40FD-B31A-6C4C7187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6230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94DE2A-FB73-4B7D-B62A-1CEE829E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623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CC62FA-D20A-4E7B-AE24-AAD55C80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14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Sell / Drop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2E5C72-B35D-4CE8-8B81-5D5A2A50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9092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B85F38"/>
                </a:solidFill>
                <a:latin typeface="PingFang TC"/>
                <a:ea typeface="PingFang TC"/>
                <a:cs typeface="PingFang TC"/>
              </a:defRPr>
            </a:pPr>
            <a:r>
              <a:rPr sz="705" b="1">
                <a:solidFill>
                  <a:srgbClr val="B85F38"/>
                </a:solidFill>
                <a:latin typeface="PingFang TC"/>
                <a:ea typeface="PingFang TC"/>
                <a:cs typeface="PingFang TC"/>
              </a:rPr>
              <a:t>待補齊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E259B5-6A40-44EF-AB06-C521A42E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57187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client 有呼叫意圖，後端缺正式流程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5427EF-FC0F-4251-914D-7E678CA0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6230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B258A3-D4BE-418C-9D42-52328C5D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623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E1CB5C-40E0-4724-9193-B7662770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14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Hotkey / Quickbar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256638-5007-4474-9943-7AD62DF9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9092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B85F38"/>
                </a:solidFill>
                <a:latin typeface="PingFang TC"/>
                <a:ea typeface="PingFang TC"/>
                <a:cs typeface="PingFang TC"/>
              </a:defRPr>
            </a:pPr>
            <a:r>
              <a:rPr sz="705" b="1">
                <a:solidFill>
                  <a:srgbClr val="B85F38"/>
                </a:solidFill>
                <a:latin typeface="PingFang TC"/>
                <a:ea typeface="PingFang TC"/>
                <a:cs typeface="PingFang TC"/>
              </a:rPr>
              <a:t>待補齊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780BE9-0F43-40DF-9376-6C59116F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7187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遊戲 UI 已有概念，尚未持久化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D411E7-7920-4C8E-821F-59F21F59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4B1D03-F27D-4A07-BE6E-F6AB4614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DCCCF7-F2A7-4D4B-9BFE-A62F6591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Merchant / Shop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4EF381-57B9-4DCF-B92A-92069E6E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9107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B85F38"/>
                </a:solidFill>
                <a:latin typeface="PingFang TC"/>
                <a:ea typeface="PingFang TC"/>
                <a:cs typeface="PingFang TC"/>
              </a:defRPr>
            </a:pPr>
            <a:r>
              <a:rPr sz="705" b="1">
                <a:solidFill>
                  <a:srgbClr val="B85F38"/>
                </a:solidFill>
                <a:latin typeface="PingFang TC"/>
                <a:ea typeface="PingFang TC"/>
                <a:cs typeface="PingFang TC"/>
              </a:rPr>
              <a:t>待補齊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E8D2E3-78C3-47F7-9CE7-9AC9BAED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7202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基地互動已在，商品 API 待建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552276-B61E-4D2A-B3D6-C6FF49F6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6245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BBBE0D-678A-4EF6-84D6-FA7E6C91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624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FDA131-A619-4E9D-9453-190784AF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148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Monster / Item catalog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4D300C0-64A7-45D6-ADBB-060C421F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9107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B85F38"/>
                </a:solidFill>
                <a:latin typeface="PingFang TC"/>
                <a:ea typeface="PingFang TC"/>
                <a:cs typeface="PingFang TC"/>
              </a:defRPr>
            </a:pPr>
            <a:r>
              <a:rPr sz="705" b="1">
                <a:solidFill>
                  <a:srgbClr val="B85F38"/>
                </a:solidFill>
                <a:latin typeface="PingFang TC"/>
                <a:ea typeface="PingFang TC"/>
                <a:cs typeface="PingFang TC"/>
              </a:rPr>
              <a:t>待補齊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59B081-FE2F-4823-B67A-EC498A60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77202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目前多由本地設定支撐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C431AD-D0E1-4659-BE33-FA5E83A0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6245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27BB24-C09C-4A30-92A7-ABF1A973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624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00E2241-DF00-477C-9B84-3DBF5C37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148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1013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Run settlement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25BF23-F392-48AA-A7AC-31F1D3FD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9107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B85F38"/>
                </a:solidFill>
                <a:latin typeface="PingFang TC"/>
                <a:ea typeface="PingFang TC"/>
                <a:cs typeface="PingFang TC"/>
              </a:defRPr>
            </a:pPr>
            <a:r>
              <a:rPr sz="705" b="1">
                <a:solidFill>
                  <a:srgbClr val="B85F38"/>
                </a:solidFill>
                <a:latin typeface="PingFang TC"/>
                <a:ea typeface="PingFang TC"/>
                <a:cs typeface="PingFang TC"/>
              </a:rPr>
              <a:t>待補齊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0ED899F-0DDF-47D5-9436-49928E39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7202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69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金幣、死亡、過關後資料回寫待補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1F0A2C-C37F-4861-9A7C-8CC8F06F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9B3568-3F1F-490A-86E8-C0D8326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Source: API.txt, missing API.txt, RemotePlayerRepository.cs, Spring controllers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6AD46C6-BC06-4011-B3E0-227FAAC8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9052012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259F99-5601-48EE-A0ED-D786F33C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9B146-7900-4125-B1C4-372A9A1F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verification-marker">
            <a:extLst xmlns:a="http://schemas.openxmlformats.org/drawingml/2006/main">
              <a:ext uri="{FF2B5EF4-FFF2-40B4-BE49-F238E27FC236}">
                <a16:creationId xmlns:a16="http://schemas.microsoft.com/office/drawing/2014/main" id="{6CB12842-99B1-401D-8BBB-08C67C0E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3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verification-label">
            <a:extLst xmlns:a="http://schemas.openxmlformats.org/drawingml/2006/main">
              <a:ext uri="{FF2B5EF4-FFF2-40B4-BE49-F238E27FC236}">
                <a16:creationId xmlns:a16="http://schemas.microsoft.com/office/drawing/2014/main" id="{997B3225-658E-4F1F-B361-BAC01DEB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50" b="1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5B8FE-9DB4-436D-A83F-F79260E1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04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目前測試策略已能支撐後台與 API 驗證，遊戲端則需要補上端到端情境測試。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72D90-4B55-4A65-9674-C8478E6A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788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Spring Boot 啟動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95EFB-C74E-471F-8695-E7FB81B9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171700"/>
            <a:ext cx="3124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FEB42-29A1-492B-A9E9-AB973197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171700"/>
            <a:ext cx="296799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7AEDF-4AD6-4BBA-BBC0-DE44632C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431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已可連上 /admin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3F0C7-9388-404B-94E8-BA3728C8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788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Maven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09A7B9-E194-4EAC-864E-78111411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47950"/>
            <a:ext cx="3124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66C81-4878-4EB5-9629-0BCBEBC0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47950"/>
            <a:ext cx="281178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710AB-6FB7-4BF3-B9FD-6239439B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193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已以 H2 profile 驗證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BAC18-80E0-4449-B31C-205B26C2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788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Admin smoke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0FD28-3397-4B68-BE64-B38E4895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24200"/>
            <a:ext cx="3124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2565C-CE19-4D49-A73A-1432BA17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24200"/>
            <a:ext cx="256184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3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FFF53E-6927-48DF-BD06-3FA212BD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956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登入與管理頁面可測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FC133A-372E-42A6-A6C3-665E9123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788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Client live run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332C33-2926-4384-A4F0-1F076447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00450"/>
            <a:ext cx="3124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282583-8A74-451D-BC5B-AC2B14A5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00450"/>
            <a:ext cx="140589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1F5DD7-6819-49B6-B793-00242D39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718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尚未以 Godot runtime 實機截圖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AAD162-38C0-4A0B-BC1D-19778DB1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43100"/>
            <a:ext cx="38100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41A9F1-10DA-4F20-AFF6-ECA20C90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098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026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42026"/>
                </a:solidFill>
                <a:latin typeface="PingFang TC"/>
                <a:ea typeface="PingFang TC"/>
                <a:cs typeface="PingFang TC"/>
              </a:rPr>
              <a:t>建議驗證順序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1FEB35-795F-41EF-A877-4FB052D0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09850"/>
            <a:ext cx="3009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32B2F"/>
                </a:solidFill>
                <a:latin typeface="Georgia"/>
                <a:ea typeface="Georgia"/>
                <a:cs typeface="Georgia"/>
              </a:defRPr>
            </a:pPr>
            <a:r>
              <a:rPr sz="938" b="0">
                <a:solidFill>
                  <a:srgbClr val="132B2F"/>
                </a:solidFill>
                <a:latin typeface="Georgia"/>
                <a:ea typeface="Georgia"/>
                <a:cs typeface="Georgia"/>
              </a:rPr>
              <a:t>1. 後端 test profile 啟動</a:t>
            </a:r>
          </a:p>
          <a:p xmlns:a="http://schemas.openxmlformats.org/drawingml/2006/main">
            <a:pPr algn="l">
              <a:defRPr sz="938" b="0">
                <a:solidFill>
                  <a:srgbClr val="132B2F"/>
                </a:solidFill>
                <a:latin typeface="Georgia"/>
                <a:ea typeface="Georgia"/>
                <a:cs typeface="Georgia"/>
              </a:defRPr>
            </a:pPr>
            <a:r>
              <a:rPr sz="938" b="0">
                <a:solidFill>
                  <a:srgbClr val="132B2F"/>
                </a:solidFill>
                <a:latin typeface="Georgia"/>
                <a:ea typeface="Georgia"/>
                <a:cs typeface="Georgia"/>
              </a:rPr>
              <a:t>2. Admin 登入與 CRUD smoke test</a:t>
            </a:r>
          </a:p>
          <a:p xmlns:a="http://schemas.openxmlformats.org/drawingml/2006/main">
            <a:pPr algn="l">
              <a:defRPr sz="938" b="0">
                <a:solidFill>
                  <a:srgbClr val="132B2F"/>
                </a:solidFill>
                <a:latin typeface="Georgia"/>
                <a:ea typeface="Georgia"/>
                <a:cs typeface="Georgia"/>
              </a:defRPr>
            </a:pPr>
            <a:r>
              <a:rPr sz="938" b="0">
                <a:solidFill>
                  <a:srgbClr val="132B2F"/>
                </a:solidFill>
                <a:latin typeface="Georgia"/>
                <a:ea typeface="Georgia"/>
                <a:cs typeface="Georgia"/>
              </a:rPr>
              <a:t>3. Godot client 登入註冊</a:t>
            </a:r>
          </a:p>
          <a:p xmlns:a="http://schemas.openxmlformats.org/drawingml/2006/main">
            <a:pPr algn="l">
              <a:defRPr sz="938" b="0">
                <a:solidFill>
                  <a:srgbClr val="132B2F"/>
                </a:solidFill>
                <a:latin typeface="Georgia"/>
                <a:ea typeface="Georgia"/>
                <a:cs typeface="Georgia"/>
              </a:defRPr>
            </a:pPr>
            <a:r>
              <a:rPr sz="938" b="0">
                <a:solidFill>
                  <a:srgbClr val="132B2F"/>
                </a:solidFill>
                <a:latin typeface="Georgia"/>
                <a:ea typeface="Georgia"/>
                <a:cs typeface="Georgia"/>
              </a:rPr>
              <a:t>4. 進入基地與迷宮</a:t>
            </a:r>
          </a:p>
          <a:p xmlns:a="http://schemas.openxmlformats.org/drawingml/2006/main">
            <a:pPr algn="l">
              <a:defRPr sz="938" b="0">
                <a:solidFill>
                  <a:srgbClr val="132B2F"/>
                </a:solidFill>
                <a:latin typeface="Georgia"/>
                <a:ea typeface="Georgia"/>
                <a:cs typeface="Georgia"/>
              </a:defRPr>
            </a:pPr>
            <a:r>
              <a:rPr sz="938" b="0">
                <a:solidFill>
                  <a:srgbClr val="132B2F"/>
                </a:solidFill>
                <a:latin typeface="Georgia"/>
                <a:ea typeface="Georgia"/>
                <a:cs typeface="Georgia"/>
              </a:rPr>
              <a:t>5. 背包、裝備、結算 API 對照</a:t>
            </a:r>
          </a:p>
          <a:p xmlns:a="http://schemas.openxmlformats.org/drawingml/2006/main">
            <a:pPr algn="l">
              <a:defRPr sz="938" b="0">
                <a:solidFill>
                  <a:srgbClr val="132B2F"/>
                </a:solidFill>
                <a:latin typeface="Georgia"/>
                <a:ea typeface="Georgia"/>
                <a:cs typeface="Georgia"/>
              </a:defRPr>
            </a:pPr>
            <a:r>
              <a:rPr sz="938" b="0">
                <a:solidFill>
                  <a:srgbClr val="132B2F"/>
                </a:solidFill>
                <a:latin typeface="Georgia"/>
                <a:ea typeface="Georgia"/>
                <a:cs typeface="Georgia"/>
              </a:rPr>
              <a:t>6. 將缺口轉成 issue / sprint backlog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ECBECA-527B-4DDB-AB70-15CE3E51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57650"/>
            <a:ext cx="304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938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這份報告已將測試焦點從「有沒有頁面」推進到「遊戲行為是否可由後端保存」。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7D6620-A5A1-464F-9DEE-42D9037A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D11623-6530-4A32-B3D2-251AD2CF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Source: local mvn test result, /admin connectivity, code inspection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DE86D7-D00B-40BC-A0F8-59B592F0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9355800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1D48CE-220D-41A0-8B3B-DECBD7D6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6C744-13F7-45C3-A7E8-5F938AEE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roadmap-marker">
            <a:extLst xmlns:a="http://schemas.openxmlformats.org/drawingml/2006/main">
              <a:ext uri="{FF2B5EF4-FFF2-40B4-BE49-F238E27FC236}">
                <a16:creationId xmlns:a16="http://schemas.microsoft.com/office/drawing/2014/main" id="{68C02C2D-1939-41F8-9E16-A5A5A4F7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3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roadmap-label">
            <a:extLst xmlns:a="http://schemas.openxmlformats.org/drawingml/2006/main">
              <a:ext uri="{FF2B5EF4-FFF2-40B4-BE49-F238E27FC236}">
                <a16:creationId xmlns:a16="http://schemas.microsoft.com/office/drawing/2014/main" id="{A4ADB8E0-B0B0-48A6-9AFE-8FD2F3BD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50" b="1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1ADF8-67EE-4331-9D0C-B98CDE84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04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後續補齊應分三階段：先對齊契約，再補經濟，再做內容配置化。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9B4C6-6B31-4374-8905-F68E6370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28850"/>
            <a:ext cx="2762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04778-1816-4248-B888-4C032DF7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28850"/>
            <a:ext cx="2762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76779-75CC-496B-935B-379E79D0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527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C78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2F8C78"/>
                </a:solidFill>
                <a:latin typeface="PingFang TC"/>
                <a:ea typeface="PingFang TC"/>
                <a:cs typeface="PingFang TC"/>
              </a:rPr>
              <a:t>Phase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F77BE-3E18-4055-8F71-7AA2CD60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2266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API parity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D41A9-823D-4B42-AE92-A0E2F944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equip / unequip / transfer / drop / sell</a:t>
            </a:r>
          </a:p>
          <a:p xmlns:a="http://schemas.openxmlformats.org/drawingml/2006/main">
            <a:pPr algn="l">
              <a:defRPr sz="90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統一 request/response DTO</a:t>
            </a:r>
          </a:p>
          <a:p xmlns:a="http://schemas.openxmlformats.org/drawingml/2006/main">
            <a:pPr algn="l">
              <a:defRPr sz="90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補 client adapter 測試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85D27B-1E99-4AEB-9B0F-0EB7CDC6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909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3CE7F8-238C-4506-9A45-F509D821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52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AE28F6-DA24-4851-9B13-35AB34E2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28850"/>
            <a:ext cx="2762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9E642C-6A20-48B2-950A-8411D217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28850"/>
            <a:ext cx="2762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3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E8FB62-46A9-4B0F-8F48-D78B9E79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527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49336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D49336"/>
                </a:solidFill>
                <a:latin typeface="PingFang TC"/>
                <a:ea typeface="PingFang TC"/>
                <a:cs typeface="PingFang TC"/>
              </a:rPr>
              <a:t>Phase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6A325-B499-45DB-AC7D-C04938F9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95600"/>
            <a:ext cx="2266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Economy persistence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6A3599-E3BC-44EA-BCCA-43843955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480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merchant / shop / item price</a:t>
            </a:r>
          </a:p>
          <a:p xmlns:a="http://schemas.openxmlformats.org/drawingml/2006/main">
            <a:pPr algn="l">
              <a:defRPr sz="90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run settlement / coin update</a:t>
            </a:r>
          </a:p>
          <a:p xmlns:a="http://schemas.openxmlformats.org/drawingml/2006/main">
            <a:pPr algn="l">
              <a:defRPr sz="90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hotkey 快捷欄保存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D56146-CB80-4B52-8E0F-0B4AA944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909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96E573-B187-49F6-97A3-053087C8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52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CA54FB-E1CA-4A5D-97BA-599FA038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28850"/>
            <a:ext cx="2762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37C2BB-1E76-4B34-9717-065EDCBB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28850"/>
            <a:ext cx="2762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36BD70-8C16-4951-8B73-3C0B45A7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F38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B85F38"/>
                </a:solidFill>
                <a:latin typeface="PingFang TC"/>
                <a:ea typeface="PingFang TC"/>
                <a:cs typeface="PingFang TC"/>
              </a:rPr>
              <a:t>Phase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CE00A9-EE7B-4481-BA46-BB278543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2266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Content operations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2B4FB8-37F0-477A-9749-7C28EF26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480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item catalog</a:t>
            </a:r>
          </a:p>
          <a:p xmlns:a="http://schemas.openxmlformats.org/drawingml/2006/main">
            <a:pPr algn="l">
              <a:defRPr sz="90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monster/chest config</a:t>
            </a:r>
          </a:p>
          <a:p xmlns:a="http://schemas.openxmlformats.org/drawingml/2006/main">
            <a:pPr algn="l">
              <a:defRPr sz="900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後台內容配置與批次匯入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A385D1-C835-420D-B9D5-F4128027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244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96DE91-4012-4FB5-AAAB-BC633261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48275"/>
            <a:ext cx="883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優先原則：先讓玩家行為能被保存與回放，再擴充道具、怪物與營運內容。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556FD7-2DAD-43A2-8754-0162AA6C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3DF3EB-419B-4E64-9285-0D0E5A48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Source: Spring Boot repository and MazeGame_Client-dev-p1.zip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FE9F5A-C022-4CFB-B5BF-3E587242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50772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F1F924-DAEB-4A42-ACCC-8148AE41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D9B45-DF49-4AB3-84C7-DC449CBA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close-marker">
            <a:extLst xmlns:a="http://schemas.openxmlformats.org/drawingml/2006/main">
              <a:ext uri="{FF2B5EF4-FFF2-40B4-BE49-F238E27FC236}">
                <a16:creationId xmlns:a16="http://schemas.microsoft.com/office/drawing/2014/main" id="{3B28040A-CA1F-40B7-88D1-6E95C0A8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3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close-label">
            <a:extLst xmlns:a="http://schemas.openxmlformats.org/drawingml/2006/main">
              <a:ext uri="{FF2B5EF4-FFF2-40B4-BE49-F238E27FC236}">
                <a16:creationId xmlns:a16="http://schemas.microsoft.com/office/drawing/2014/main" id="{BBD8B07E-C8BC-4968-B4AD-BECDD45A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50" b="1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CLOSE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2623F-0112-4E09-86DF-67FB302D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04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結論：專案已能被完整展示，下一個里程碑是把遊戲成果真正寫回服務端。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067e37a4c47dc"/>
          <a:stretch xmlns:a="http://schemas.openxmlformats.org/drawingml/2006/main"/>
        </p:blipFill>
        <p:spPr>
          <a:xfrm xmlns:a="http://schemas.openxmlformats.org/drawingml/2006/main">
            <a:off x="7543800" y="1163866"/>
            <a:ext cx="3219450" cy="18061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0EBD6-5F8F-4867-8946-9588CCC1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533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46CC5-5D7B-4710-9250-9A6A2A9A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19325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C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2F8C78"/>
                </a:solidFill>
                <a:latin typeface="PingFang TC"/>
                <a:ea typeface="PingFang TC"/>
                <a:cs typeface="PingFang TC"/>
              </a:rPr>
              <a:t>可展示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DCB69-091B-459A-A1DB-102C3B2C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7170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32B2F"/>
                </a:solidFill>
                <a:latin typeface="PingFang TC"/>
                <a:ea typeface="PingFang TC"/>
                <a:cs typeface="PingFang TC"/>
              </a:defRPr>
            </a:pPr>
            <a:r>
              <a:rPr sz="938" b="0">
                <a:solidFill>
                  <a:srgbClr val="132B2F"/>
                </a:solidFill>
                <a:latin typeface="PingFang TC"/>
                <a:ea typeface="PingFang TC"/>
                <a:cs typeface="PingFang TC"/>
              </a:rPr>
              <a:t>遊戲端有完整主流程，後台可連線測試，API 支撐第一版資料操作。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D5BAEB-31C4-4318-AB5E-1C5CD13F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533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EC27B-B871-4EF3-AA5E-8A0DCECA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33725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9336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49336"/>
                </a:solidFill>
                <a:latin typeface="PingFang TC"/>
                <a:ea typeface="PingFang TC"/>
                <a:cs typeface="PingFang TC"/>
              </a:rPr>
              <a:t>可管理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1A96E-FDAB-4125-B5FE-31077DC8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8610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32B2F"/>
                </a:solidFill>
                <a:latin typeface="PingFang TC"/>
                <a:ea typeface="PingFang TC"/>
                <a:cs typeface="PingFang TC"/>
              </a:defRPr>
            </a:pPr>
            <a:r>
              <a:rPr sz="938" b="0">
                <a:solidFill>
                  <a:srgbClr val="132B2F"/>
                </a:solidFill>
                <a:latin typeface="PingFang TC"/>
                <a:ea typeface="PingFang TC"/>
                <a:cs typeface="PingFang TC"/>
              </a:rPr>
              <a:t>玩家、背包、道具、管理員與操作紀錄已進入後台管理面。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952E2D-A32E-4D1B-85E9-92D0B337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533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DED3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69AB14-1A33-4F17-B519-20D1C686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48125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5F3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B85F38"/>
                </a:solidFill>
                <a:latin typeface="PingFang TC"/>
                <a:ea typeface="PingFang TC"/>
                <a:cs typeface="PingFang TC"/>
              </a:rPr>
              <a:t>可延伸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8ABA9A-F0B6-4AC6-B2FD-BDDB4AE1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0050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32B2F"/>
                </a:solidFill>
                <a:latin typeface="PingFang TC"/>
                <a:ea typeface="PingFang TC"/>
                <a:cs typeface="PingFang TC"/>
              </a:defRPr>
            </a:pPr>
            <a:r>
              <a:rPr sz="938" b="0">
                <a:solidFill>
                  <a:srgbClr val="132B2F"/>
                </a:solidFill>
                <a:latin typeface="PingFang TC"/>
                <a:ea typeface="PingFang TC"/>
                <a:cs typeface="PingFang TC"/>
              </a:rPr>
              <a:t>剩餘缺口集中，能轉成明確 sprint backlog，而非架構重做。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F6FD7B-2E75-4070-B015-7ED45263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29050"/>
            <a:ext cx="4324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CD5122-91B8-49F5-8378-E7F8335F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386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49336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D49336"/>
                </a:solidFill>
                <a:latin typeface="PingFang TC"/>
                <a:ea typeface="PingFang TC"/>
                <a:cs typeface="PingFang TC"/>
              </a:rPr>
              <a:t>建議報告口徑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84A5DC-F378-4B4D-97A2-73A6ED8C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24350"/>
            <a:ext cx="3524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這是一個已具 playable prototype 與管理營運雛形的地城迷宮專案，現階段應聚焦 API parity 與 runtime persistence。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354055-1DD1-4F5D-BAC2-F4A3B18E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62230E-DA73-4BF9-8DFF-0E7FF311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Source-backed report built from local repository and supplied game client archive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EF2453-48EE-473A-BE36-C58714B4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76D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6F776D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695787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2026-05-07T16:57:00.9280000Z</dcterms:created>
  <dcterms:modified xsi:type="dcterms:W3CDTF">2026-05-07T16:57:00.9280000Z</dcterms:modified>
</coreProperties>
</file>